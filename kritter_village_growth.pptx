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Top 100 by State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Villages in Top 100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D948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891B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D948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891B2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Karnataka</c:v>
                  </c:pt>
                  <c:pt idx="1">
                    <c:v>Uttar Pradesh</c:v>
                  </c:pt>
                  <c:pt idx="2">
                    <c:v>Maharashtra</c:v>
                  </c:pt>
                  <c:pt idx="3">
                    <c:v>Tamil Nadu</c:v>
                  </c:pt>
                  <c:pt idx="4">
                    <c:v>Chhattisgarh</c:v>
                  </c:pt>
                  <c:pt idx="5">
                    <c:v>Andhra Pradesh</c:v>
                  </c:pt>
                  <c:pt idx="6">
                    <c:v>Telangana</c:v>
                  </c:pt>
                  <c:pt idx="7">
                    <c:v>Uttarakhand</c:v>
                  </c:pt>
                  <c:pt idx="8">
                    <c:v>Others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33</c:v>
                </c:pt>
                <c:pt idx="1">
                  <c:v>25</c:v>
                </c:pt>
                <c:pt idx="2">
                  <c:v>7</c:v>
                </c:pt>
                <c:pt idx="3">
                  <c:v>7</c:v>
                </c:pt>
                <c:pt idx="4">
                  <c:v>6</c:v>
                </c:pt>
                <c:pt idx="5">
                  <c:v>5</c:v>
                </c:pt>
                <c:pt idx="6">
                  <c:v>5</c:v>
                </c:pt>
                <c:pt idx="7">
                  <c:v>3</c:v>
                </c:pt>
                <c:pt idx="8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0F7F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E293B"/>
                </a:solidFill>
                <a:latin typeface="Arial"/>
              </a:rPr>
              <a:t>Nighttime Light Radiance (nW/cm²/sr)  ·  2019–2024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NTL Radiance (nW/cm²/sr)</c:v>
                </c:pt>
              </c:strCache>
            </c:strRef>
          </c:tx>
          <c:spPr>
            <a:solidFill>
              <a:srgbClr val="0D9488"/>
            </a:solidFill>
            <a:ln w="254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dot"/>
            <c:size val="7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3.12</c:v>
                </c:pt>
                <c:pt idx="1">
                  <c:v>2.51</c:v>
                </c:pt>
                <c:pt idx="2">
                  <c:v>3.59</c:v>
                </c:pt>
                <c:pt idx="3">
                  <c:v>14.49</c:v>
                </c:pt>
                <c:pt idx="4">
                  <c:v>21.81</c:v>
                </c:pt>
                <c:pt idx="5">
                  <c:v>22.42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0" y="548640"/>
            <a:ext cx="3657600" cy="3657600"/>
          </a:xfrm>
          <a:prstGeom prst="ellipse">
            <a:avLst/>
          </a:prstGeom>
          <a:solidFill>
            <a:srgbClr val="065A82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949440" y="1005840"/>
            <a:ext cx="2560320" cy="256032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406640" y="1417320"/>
            <a:ext cx="1645920" cy="1645920"/>
          </a:xfrm>
          <a:prstGeom prst="ellipse">
            <a:avLst/>
          </a:prstGeom>
          <a:solidFill>
            <a:srgbClr val="0D9488">
              <a:alpha val="5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Village Economic Growth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02920" y="166420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2920" y="257860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Satellite-Derived Signals for Village-Level Economic Activity  ·  2019–2024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164592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32918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255K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02920" y="38587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Villages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246120" y="32918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yrs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246120" y="38587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VIIRS NTL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2019–2024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89320" y="32918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989320" y="38587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Villages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46227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467K OSM centroids downloaded  ·  255K passed India polygon + NTL baseline filter  →  scored and shortlisted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02920" y="473659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Kritter Software Technologies — Candidate Assignment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132320" y="473659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Approach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319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393192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1556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1719072"/>
            <a:ext cx="164592" cy="16459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950976" y="166420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has ~640k villages — traditional surveys are slow, expensive, and years out of date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8368" y="2615184"/>
            <a:ext cx="164592" cy="16459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950976" y="2560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economic data exists at village scale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8368" y="3511296"/>
            <a:ext cx="164592" cy="16459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345643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boundary data is from 2011 (PC11); split/merged villages cause mismatches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39319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960120"/>
            <a:ext cx="39319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11556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Proxy Signals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937760" y="16642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Nighttime Lights (VIIRS)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37760" y="192024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composites 2019–2024 at 500m. Proxy for electrification, commerce &amp; settlement density.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37760" y="2560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Built-up Change (WorldCover)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37760" y="281635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10m land cover — detects new infrastructure 2020→2021.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34564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6-Year Trend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371246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slope separates sustained growth from single-year spikes.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6268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principal signals shown above — full 8-signal architecture (incl. Sentinel-2, Sentinel-1, GHSL, WorldPop) on Slide 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791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compute runs on AWS EC2 (ap-south-1). No proprietary tools or licensed datasets required.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&amp; Pipeline  —  8-Signal Framework (3 active this run)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47472" y="941832"/>
            <a:ext cx="1920240" cy="1143000"/>
          </a:xfrm>
          <a:prstGeom prst="rect">
            <a:avLst/>
          </a:prstGeom>
          <a:solidFill>
            <a:srgbClr val="065A82"/>
          </a:solidFill>
          <a:ln/>
          <a:effectLst>
            <a:outerShdw sx="100000" sy="100000" kx="0" ky="0" algn="bl" rotWithShape="0" blurRad="101600" dist="25400" dir="8100000">
              <a:srgbClr val="000000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20624" y="1005840"/>
            <a:ext cx="868680" cy="146304"/>
          </a:xfrm>
          <a:prstGeom prst="rect">
            <a:avLst/>
          </a:prstGeom>
          <a:solidFill>
            <a:srgbClr val="16A34A">
              <a:alpha val="8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20624" y="1005840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ACTIVE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38912" y="117957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VIIRS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VNP46A4 v2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38912" y="16733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NTL radiance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500m · 2019–2024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India tiles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14600" y="941832"/>
            <a:ext cx="1920240" cy="1143000"/>
          </a:xfrm>
          <a:prstGeom prst="rect">
            <a:avLst/>
          </a:prstGeom>
          <a:solidFill>
            <a:srgbClr val="1C7293"/>
          </a:solidFill>
          <a:ln/>
          <a:effectLst>
            <a:outerShdw sx="100000" sy="100000" kx="0" ky="0" algn="bl" rotWithShape="0" blurRad="101600" dist="254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87752" y="1005840"/>
            <a:ext cx="868680" cy="146304"/>
          </a:xfrm>
          <a:prstGeom prst="rect">
            <a:avLst/>
          </a:prstGeom>
          <a:solidFill>
            <a:srgbClr val="16A34A">
              <a:alpha val="8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2587752" y="1005840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ACTIVE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606040" y="117957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WorldCover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&amp; 2021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06040" y="16733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Built-up fraction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 COGs · v100/v200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81728" y="941832"/>
            <a:ext cx="1920240" cy="1143000"/>
          </a:xfrm>
          <a:prstGeom prst="rect">
            <a:avLst/>
          </a:prstGeom>
          <a:solidFill>
            <a:srgbClr val="0D9488"/>
          </a:solidFill>
          <a:ln/>
          <a:effectLst>
            <a:outerShdw sx="100000" sy="100000" kx="0" ky="0" algn="bl" rotWithShape="0" blurRad="101600" dist="254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05840"/>
            <a:ext cx="868680" cy="146304"/>
          </a:xfrm>
          <a:prstGeom prst="rect">
            <a:avLst/>
          </a:prstGeom>
          <a:solidFill>
            <a:srgbClr val="16A34A">
              <a:alpha val="8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005840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ACTIVE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773168" y="117957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JRC GHSL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R2023A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73168" y="16733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Built-up surface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 · 2015 &amp; 2020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48856" y="941832"/>
            <a:ext cx="1920240" cy="114300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101600" dist="25400" dir="81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22008" y="1005840"/>
            <a:ext cx="868680" cy="146304"/>
          </a:xfrm>
          <a:prstGeom prst="rect">
            <a:avLst/>
          </a:prstGeom>
          <a:solidFill>
            <a:srgbClr val="16A34A">
              <a:alpha val="8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922008" y="1005840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ACTIVE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940296" y="117957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+ Natural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940296" y="16733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467K centroids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 density · city dist.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47472" y="2286000"/>
            <a:ext cx="1920240" cy="932688"/>
          </a:xfrm>
          <a:prstGeom prst="rect">
            <a:avLst/>
          </a:prstGeom>
          <a:solidFill>
            <a:srgbClr val="64748B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20624" y="2350008"/>
            <a:ext cx="868680" cy="146304"/>
          </a:xfrm>
          <a:prstGeom prst="rect">
            <a:avLst/>
          </a:prstGeom>
          <a:solidFill>
            <a:srgbClr val="D97706">
              <a:alpha val="8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20624" y="2350008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STALLED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38912" y="25237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Sentinel-2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(Element84 STAC)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38912" y="290779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NDBI + NDVI 100m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2019–2024 composites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514600" y="2286000"/>
            <a:ext cx="1920240" cy="932688"/>
          </a:xfrm>
          <a:prstGeom prst="rect">
            <a:avLst/>
          </a:prstGeom>
          <a:solidFill>
            <a:srgbClr val="64748B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587752" y="2350008"/>
            <a:ext cx="868680" cy="146304"/>
          </a:xfrm>
          <a:prstGeom prst="rect">
            <a:avLst/>
          </a:prstGeom>
          <a:solidFill>
            <a:srgbClr val="D97706">
              <a:alpha val="8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2587752" y="2350008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STALLED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5237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Sentinel-1 RTC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(Element84)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06040" y="290779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VV backscatter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 · cloud-free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81728" y="2286000"/>
            <a:ext cx="1920240" cy="932688"/>
          </a:xfrm>
          <a:prstGeom prst="rect">
            <a:avLst/>
          </a:prstGeom>
          <a:solidFill>
            <a:srgbClr val="94A3B8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54880" y="2350008"/>
            <a:ext cx="868680" cy="146304"/>
          </a:xfrm>
          <a:prstGeom prst="rect">
            <a:avLst/>
          </a:prstGeom>
          <a:solidFill>
            <a:srgbClr val="475569">
              <a:alpha val="80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4754880" y="2350008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◑ SUPPORTING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773168" y="25237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WorldPop India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2019–2020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773168" y="290779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count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 · auxiliary only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848856" y="2286000"/>
            <a:ext cx="1920240" cy="932688"/>
          </a:xfrm>
          <a:prstGeom prst="rect">
            <a:avLst/>
          </a:prstGeom>
          <a:solidFill>
            <a:srgbClr val="94A3B8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922008" y="2350008"/>
            <a:ext cx="868680" cy="146304"/>
          </a:xfrm>
          <a:prstGeom prst="rect">
            <a:avLst/>
          </a:prstGeom>
          <a:solidFill>
            <a:srgbClr val="475569">
              <a:alpha val="80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6922008" y="2350008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◑ SUPPORTING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940296" y="25237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Overpass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Ohsome API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940296" y="290779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tower density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 &amp; 2024 snapshots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57200" y="333756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57200" y="3694176"/>
            <a:ext cx="2724912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7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94360" y="3794760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village_all_stats.csv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94360" y="4142232"/>
            <a:ext cx="24505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467K rows · NTL 2019–2024 + per-village signals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364992" y="3694176"/>
            <a:ext cx="2724912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7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502152" y="3794760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village_scored.csv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502152" y="4142232"/>
            <a:ext cx="24505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255K India villages · composite score + rank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72784" y="3694176"/>
            <a:ext cx="2724912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7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09944" y="3794760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top_100_villages.csv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map.html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409944" y="4142232"/>
            <a:ext cx="24505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shortlist · public S3 bucket (ap-south-1)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Scoring Model — 3-Stage Pipeline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" y="960120"/>
            <a:ext cx="2724912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960120"/>
            <a:ext cx="2724912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" name="Shape 3"/>
          <p:cNvSpPr/>
          <p:nvPr/>
        </p:nvSpPr>
        <p:spPr>
          <a:xfrm>
            <a:off x="429768" y="10972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429768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86968" y="1115568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2450592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484632" y="1719072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673352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BFAST-style piecewise regression on 6-year NTL series → breakpoint year, pre/post slope, acceleration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4632" y="2615184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" y="256946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lag: mean composite score of 10 nearest geographic neighbours (cluster reinforcement)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4632" y="3511296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3465576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agreement: std of rank percentiles — penalises contradictory signals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63240" y="2651760"/>
            <a:ext cx="137160" cy="36576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6" name="Shape 14"/>
          <p:cNvSpPr/>
          <p:nvPr/>
        </p:nvSpPr>
        <p:spPr>
          <a:xfrm>
            <a:off x="3227832" y="960120"/>
            <a:ext cx="2724912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27832" y="960120"/>
            <a:ext cx="2724912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Shape 16"/>
          <p:cNvSpPr/>
          <p:nvPr/>
        </p:nvSpPr>
        <p:spPr>
          <a:xfrm>
            <a:off x="3337560" y="10972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333756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4760" y="1115568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Self-supervised Labelling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364992" y="1572768"/>
            <a:ext cx="2450592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3392424" y="1719072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3575304" y="1673352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= 1  if village is top-10% on ≥ 2 primary signals simultaneously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92424" y="2615184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3575304" y="256946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~28K positive labels from 255K villages (~11% prevalence)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92424" y="3511296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3575304" y="3465576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Labels derived from same features as final composite — AUC measures self-consistency, not external ground truth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971032" y="2651760"/>
            <a:ext cx="137160" cy="36576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9" name="Shape 27"/>
          <p:cNvSpPr/>
          <p:nvPr/>
        </p:nvSpPr>
        <p:spPr>
          <a:xfrm>
            <a:off x="6135624" y="960120"/>
            <a:ext cx="2724912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35624" y="960120"/>
            <a:ext cx="2724912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Shape 29"/>
          <p:cNvSpPr/>
          <p:nvPr/>
        </p:nvSpPr>
        <p:spPr>
          <a:xfrm>
            <a:off x="6245352" y="1097280"/>
            <a:ext cx="384048" cy="38404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2" name="Text 30"/>
          <p:cNvSpPr/>
          <p:nvPr/>
        </p:nvSpPr>
        <p:spPr>
          <a:xfrm>
            <a:off x="6245352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02552" y="1115568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GradientBoostingClassifier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272784" y="1572768"/>
            <a:ext cx="2450592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Shape 33"/>
          <p:cNvSpPr/>
          <p:nvPr/>
        </p:nvSpPr>
        <p:spPr>
          <a:xfrm>
            <a:off x="6300216" y="1719072"/>
            <a:ext cx="128016" cy="12801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6" name="Text 34"/>
          <p:cNvSpPr/>
          <p:nvPr/>
        </p:nvSpPr>
        <p:spPr>
          <a:xfrm>
            <a:off x="6483096" y="1673352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estimators · max_depth=4 · learning_rate=0.05 · subsample=0.8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300216" y="2615184"/>
            <a:ext cx="128016" cy="12801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8" name="Text 36"/>
          <p:cNvSpPr/>
          <p:nvPr/>
        </p:nvSpPr>
        <p:spPr>
          <a:xfrm>
            <a:off x="6483096" y="256946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14 signal rank percentiles + BFAST features + spatial lag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0216" y="3511296"/>
            <a:ext cx="128016" cy="12801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40" name="Text 38"/>
          <p:cNvSpPr/>
          <p:nvPr/>
        </p:nvSpPr>
        <p:spPr>
          <a:xfrm>
            <a:off x="6483096" y="3465576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ml_growth_prob (0–100) · AUC ≈ 0.87 (in-sample, self-supervised — not external validation)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040" y="4800600"/>
            <a:ext cx="8503920" cy="292608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82803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saved to ml_model.pkl · SHAP TreeExplainer applied post-hoc for per-village signal attribution · K-means (k=6 by silhouette) clusters all scored villages into 6 growth archetypes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 — Actual Weights Used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8321040" cy="502920"/>
          </a:xfrm>
          <a:prstGeom prst="rect">
            <a:avLst/>
          </a:prstGeom>
          <a:solidFill>
            <a:srgbClr val="FEF3C7"/>
          </a:solidFill>
          <a:ln w="6350">
            <a:solidFill>
              <a:srgbClr val="FCD3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969264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Sentinel-2 NDBI and Sentinel-1 SAR signals stalled during this pipeline run (monsoon STAC gaps).  Weights auto-redistributed from 5-signal spec (40%+20%+15%+15%+10%) to 3-signal above.  Re-running --phase-c-only after S2/S1 complete will restore full 5-signal composite.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71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98448" y="16276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Growth Probability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1298448" y="1975104"/>
            <a:ext cx="5029200" cy="237744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1975104"/>
            <a:ext cx="4846320" cy="23774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733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GBM output (Stage 3)  ·  dominant signal  ·  captures multi-signal interaction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2542032"/>
            <a:ext cx="71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98448" y="25420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NTL Growth (log-scaled)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298448" y="2889504"/>
            <a:ext cx="5029200" cy="237744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13" name="Shape 11"/>
          <p:cNvSpPr/>
          <p:nvPr/>
        </p:nvSpPr>
        <p:spPr>
          <a:xfrm>
            <a:off x="1298448" y="2889504"/>
            <a:ext cx="2468880" cy="23774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25877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log(1 + ntl_growth_pct) 2019→2024  ·  log dampens extreme % from low baselines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3456432"/>
            <a:ext cx="71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298448" y="34564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GHSL Built-up Change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1298448" y="3803904"/>
            <a:ext cx="5029200" cy="237744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18" name="Shape 16"/>
          <p:cNvSpPr/>
          <p:nvPr/>
        </p:nvSpPr>
        <p:spPr>
          <a:xfrm>
            <a:off x="1298448" y="3803904"/>
            <a:ext cx="1828800" cy="23774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5021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JRC 2015→2020 built-up surface fraction  ·  cloud-independent, validated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4626864"/>
            <a:ext cx="8412480" cy="347472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Pre-filters: NTL 2019 ≥ 0.1 nW/cm²/sr + India polygon filter + Δ NTL ≥ 0.5 nW/cm²/sr absolute minimum  ·  Normalisation: rank percentile → 0–100  ·  ⚠ Score compression: top ~50 villages score 85.07–85.08 (&lt; 0.01 pt spread) — treat as a statistical shortlist, not a strict ranking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Top 100 Shortlist  (3-signal composite: NTL 27% · GHSL 20% · ML amplifier 53%)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4983480" cy="3931920"/>
        </p:xfrm>
        <a:graphic>
          <a:graphicData uri="http://schemas.openxmlformats.org/drawingml/2006/table">
            <a:tbl>
              <a:tblPr/>
              <a:tblGrid>
                <a:gridCol w="347472"/>
                <a:gridCol w="1828800"/>
                <a:gridCol w="1481328"/>
                <a:gridCol w="1051560"/>
              </a:tblGrid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NTL Growth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Unnamed † (Maharajganj)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Uttar Pradesh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+628%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Unnamed † (Maharajganj)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Uttar Pradesh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+551%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Himmatpur Talla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Uttarakhand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Unnamed † (Siddharth Nagar)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Uttar Pradesh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+831%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Unnamed † (Maharajganj)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Uttar Pradesh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+476%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Unnamed † (Siddharth Nagar)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Uttar Pradesh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Unnamed † (Maharajganj)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Uttar Pradesh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+682%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Unnamed † (Maharajganj)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Uttar Pradesh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Naveguda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Telangana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+1,170%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Kallagam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Tamil Nadu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5623560" y="896112"/>
          <a:ext cx="32461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/>
          <p:nvPr/>
        </p:nvSpPr>
        <p:spPr>
          <a:xfrm>
            <a:off x="457200" y="48920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† No OSM name tag — 30 of 100 are bare OSM nodes; identified by district.  Score spread across top-100: 73.85–70.04 (3.81 pts). Bootstrap median inclusion = 0% (only 3 of 8 signals active) — interpret as a statistical shortlist for field validation, not a strict rank.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Himmatpur Talla, Uttarakhand  (Rank #3 · strongest multi-signal confirmation in top 10)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886968"/>
            <a:ext cx="2834640" cy="42245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886968"/>
            <a:ext cx="283464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603504" y="9784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Profile  (Rank #3)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03504" y="1335024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District: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600200" y="1335024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Nainital, Uttarakhand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3504" y="1636776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636776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29.2181°N, 79.4815°E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03504" y="1938528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Dist. to city: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938528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64.7 km  (Himalayan foothills)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03504" y="2240280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Archetype: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2240280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NTL Breakout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3504" y="2542032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BFAST year: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600200" y="2542032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(structural change)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03504" y="2843784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Pre-slope: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600200" y="2843784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0.23 nW/cm²/sr/yr (flat)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3504" y="3145536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Post-slope: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00200" y="3145536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3.97 nW/cm²/sr/yr  (17× acceleration)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3504" y="3447288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 growth: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600200" y="3447288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+0.51 towers/km²  (only top-10 with confirmed connectivity expansion)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3822192"/>
            <a:ext cx="274320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603504" y="387705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SHAP Feature Drivers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3504" y="413308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Built-up Change (GHSL)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194560" y="4197096"/>
            <a:ext cx="868680" cy="109728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4560" y="4197096"/>
            <a:ext cx="71231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603504" y="438912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NTL Log Growth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194560" y="4453128"/>
            <a:ext cx="868680" cy="109728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30" name="Shape 28"/>
          <p:cNvSpPr/>
          <p:nvPr/>
        </p:nvSpPr>
        <p:spPr>
          <a:xfrm>
            <a:off x="2194560" y="4453128"/>
            <a:ext cx="677570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603504" y="4645152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NTL Level 2024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194560" y="4709160"/>
            <a:ext cx="868680" cy="109728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4560" y="4709160"/>
            <a:ext cx="616763" cy="109728"/>
          </a:xfrm>
          <a:prstGeom prst="rect">
            <a:avLst/>
          </a:prstGeom>
          <a:solidFill>
            <a:srgbClr val="0D9488"/>
          </a:solidFill>
          <a:ln/>
        </p:spPr>
      </p:sp>
      <p:graphicFrame>
        <p:nvGraphicFramePr>
          <p:cNvPr id="34" name="Chart 0" descr=""/>
          <p:cNvGraphicFramePr/>
          <p:nvPr/>
        </p:nvGraphicFramePr>
        <p:xfrm>
          <a:off x="3493008" y="859536"/>
          <a:ext cx="5394960" cy="35478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6903720" y="2560320"/>
            <a:ext cx="1828800" cy="749808"/>
          </a:xfrm>
          <a:prstGeom prst="rect">
            <a:avLst/>
          </a:prstGeom>
          <a:solidFill>
            <a:srgbClr val="FEF9C3"/>
          </a:solidFill>
          <a:ln w="6350">
            <a:solidFill>
              <a:srgbClr val="FCD34D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967728" y="2596896"/>
            <a:ext cx="1700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BFAST breakpoint</a:t>
            </a:r>
            <a:endParaRPr lang="en-US" sz="850" dirty="0"/>
          </a:p>
          <a:p>
            <a:pPr algn="l" indent="0" marL="0">
              <a:buNone/>
            </a:pPr>
            <a:r>
              <a:rPr lang="en-US" sz="85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— pre-slope 0.23</a:t>
            </a:r>
            <a:endParaRPr lang="en-US" sz="850" dirty="0"/>
          </a:p>
          <a:p>
            <a:pPr algn="l" indent="0" marL="0">
              <a:buNone/>
            </a:pPr>
            <a:r>
              <a:rPr lang="en-US" sz="85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post-slope 3.97 nW/yr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57200" y="4590288"/>
            <a:ext cx="8412480" cy="502920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03504" y="4636008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rank #3?  Himmatpur Talla is the only top-10 village with confirmed tower infrastructure expansion (+0.51 towers/km²), ruling out pure electrification as the growth driver. NTL grew +618% (3.1 → 22.4 nW/cm²/sr). BFAST structural break in 2022; post-break acceleration 17× pre-break rate. Selected as case study because it is named, geographically isolated (64.7 km from nearest city), and has 4/4 available signals confirming → confidence_score = 100, inter_signal_agreement = 60.0.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2724912" cy="2331720"/>
          </a:xfrm>
          <a:prstGeom prst="rect">
            <a:avLst/>
          </a:prstGeom>
          <a:solidFill>
            <a:srgbClr val="065A82">
              <a:alpha val="45000"/>
            </a:srgbClr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is Geographically Concentrated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828800"/>
            <a:ext cx="245059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100 span 8+ states. Karnataka (33) and UP (25) dominate — consistent with Bengaluru peri-urban expansion and UP highway corridor districts. Karnataka is ~4× over-represented vs. its India village share; see README for confound analysis.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64992" y="1207008"/>
            <a:ext cx="2724912" cy="2331720"/>
          </a:xfrm>
          <a:prstGeom prst="rect">
            <a:avLst/>
          </a:prstGeom>
          <a:solidFill>
            <a:srgbClr val="065A82">
              <a:alpha val="45000"/>
            </a:srgbClr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02152" y="1325880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Signal Confirmed  ·  Ranking is a Shortlist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502152" y="1828800"/>
            <a:ext cx="245059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Moran's I = 0.0631 (p &lt; 0.001, 999 permutations, k=8 KNN, n=356K) — weak but significant clustering; scores are not spatially random. Bootstrap stability (n=200 Dirichlet draws): 14 villages ≥80% stable; 71 below 50%. Treat as a field-validation shortlist, not a strict ordered ranking.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72784" y="1207008"/>
            <a:ext cx="2724912" cy="2331720"/>
          </a:xfrm>
          <a:prstGeom prst="rect">
            <a:avLst/>
          </a:prstGeom>
          <a:solidFill>
            <a:srgbClr val="065A82">
              <a:alpha val="45000"/>
            </a:srgbClr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1325880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is Scalable &amp; Repeatable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9944" y="1828800"/>
            <a:ext cx="245059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255K scored villages on a single EC2 t3.xlarge in &lt; 12 hrs. Annual automated re-run via EventBridge. Completing Sentinel-2/SAR will raise active signals from 3 to 5, widen score spread from 3.8 to &gt;5 pts, and stabilise bootstrap rankings.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3703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Would Do Next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Sentinel-2/SAR stalled signals — restores full 5-signal composite &amp; resolves circular label issue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self-supervised labels with SHRUG/SECC consumption quintiles as external ground truth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PMGSY road correlation — validation framework built in 07_validate.py; requires EC2 re-run with PMGSY shapefiles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data fixed-effects model across all 6 years — replaces endpoint comparison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74920" y="3611880"/>
            <a:ext cx="3749040" cy="1417320"/>
          </a:xfrm>
          <a:prstGeom prst="rect">
            <a:avLst/>
          </a:prstGeom>
          <a:solidFill>
            <a:srgbClr val="041420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57800" y="371246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&amp; Results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257800" y="402336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ishunteam-png.github.io/kritter-village-growth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57800" y="425196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Top-100 table · 6 Plotly charts · interactive map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257800" y="448056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top_100_villages.csv · map.html · archetypes · forecast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India Village Economic Growth Intelligence</dc:title>
  <dc:subject>PptxGenJS Presentation</dc:subject>
  <dc:creator>Candidate</dc:creator>
  <cp:lastModifiedBy>Candidate</cp:lastModifiedBy>
  <cp:revision>1</cp:revision>
  <dcterms:created xsi:type="dcterms:W3CDTF">2026-05-25T09:52:23Z</dcterms:created>
  <dcterms:modified xsi:type="dcterms:W3CDTF">2026-05-25T09:52:23Z</dcterms:modified>
</cp:coreProperties>
</file>