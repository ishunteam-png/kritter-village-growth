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Arial"/>
              </a:rPr>
              <a:t>Top 100 by State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Villages in Top 100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Karnataka</c:v>
                  </c:pt>
                  <c:pt idx="1">
                    <c:v>Uttar Pradesh</c:v>
                  </c:pt>
                  <c:pt idx="2">
                    <c:v>Maharashtra</c:v>
                  </c:pt>
                  <c:pt idx="3">
                    <c:v>Tamil Nadu</c:v>
                  </c:pt>
                  <c:pt idx="4">
                    <c:v>Chhattisgarh</c:v>
                  </c:pt>
                  <c:pt idx="5">
                    <c:v>Andhra Pradesh</c:v>
                  </c:pt>
                  <c:pt idx="6">
                    <c:v>Telangana</c:v>
                  </c:pt>
                  <c:pt idx="7">
                    <c:v>Uttarakhand</c:v>
                  </c:pt>
                  <c:pt idx="8">
                    <c:v>Others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</c:v>
                </c:pt>
                <c:pt idx="1">
                  <c:v>25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Nighttime Light Radiance (nW/cm²/sr)  ·  2019–2024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NTL Radiance (nW/cm²/sr)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7556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dot"/>
            <c:size val="7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3.12</c:v>
                </c:pt>
                <c:pt idx="1">
                  <c:v>2.51</c:v>
                </c:pt>
                <c:pt idx="2">
                  <c:v>3.59</c:v>
                </c:pt>
                <c:pt idx="3">
                  <c:v>14.49</c:v>
                </c:pt>
                <c:pt idx="4">
                  <c:v>21.81</c:v>
                </c:pt>
                <c:pt idx="5">
                  <c:v>22.42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7556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548640"/>
            <a:ext cx="3657600" cy="3657600"/>
          </a:xfrm>
          <a:prstGeom prst="ellipse">
            <a:avLst/>
          </a:prstGeom>
          <a:solidFill>
            <a:srgbClr val="065A82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1005840"/>
            <a:ext cx="2560320" cy="256032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1417320"/>
            <a:ext cx="1645920" cy="1645920"/>
          </a:xfrm>
          <a:prstGeom prst="ellipse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14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Village Economic Growth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Satellite-Derived Signals for Village-Level Economic Activity  ·  2019–2024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1645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91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0292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46120" y="3291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yrs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4612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VIIRS NTL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89320" y="32918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989320" y="3858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Villages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4622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467K OSM centroids downloaded  ·  255K passed India polygon + NTL baseline filter  →  scored and shortlisted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" y="47365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Kritter Software Technologies — Candidate Assignment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32320" y="4736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1719072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166420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~640k villages — traditional surveys are slow, expensive, and years out of 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261518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25603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economic data exists at village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511296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45643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boundary data is from 2011 (PC11); split/merged villages cause mismatches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3931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15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Proxy Signals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664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Nighttime Lights (VIIRS)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composites 2019–2024 at 500m. Proxy for electrification, commerce &amp; settlement density.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Change (WorldCover)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81635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10m land cover — detects new infrastructure 2020→2021.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6-Year Trend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71246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slope separates sustained growth from single-year spikes.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268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principal signals shown above — full 8-signal architecture (incl. Sentinel-2, Sentinel-1, GHSL, WorldPop) on Slide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791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 runs on AWS EC2 (ap-south-1). No proprietary tools or licensed datasets required.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Pipeline  —  8-Signal Framework (3 active this run)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" y="941832"/>
            <a:ext cx="192024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0624" y="1005840"/>
            <a:ext cx="868680" cy="146304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20624" y="100584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38912" y="11795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VIIRS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VNP46A4 v2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NTL radiance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 · 2019–2024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India tiles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14600" y="941832"/>
            <a:ext cx="1920240" cy="11430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87752" y="1005840"/>
            <a:ext cx="868680" cy="146304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0584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606040" y="11795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WorldCover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&amp; 2021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fraction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 COGs · v100/v200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941832"/>
            <a:ext cx="1920240" cy="11430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254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05840"/>
            <a:ext cx="868680" cy="146304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0584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73168" y="11795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JRC GHSL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R2023A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73168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surface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· 2015 &amp; 2020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48856" y="941832"/>
            <a:ext cx="1920240" cy="11430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254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22008" y="1005840"/>
            <a:ext cx="868680" cy="146304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22008" y="100584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ACTIVE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40296" y="11795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+ Natural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940296" y="167335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467K centroids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7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density · city dist.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286000"/>
            <a:ext cx="1920240" cy="932688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" y="2350008"/>
            <a:ext cx="868680" cy="146304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" y="2350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STALLED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38912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(Element84 STAC)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8912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NDBI + NDVI 100m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2019–2024 composites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14600" y="2286000"/>
            <a:ext cx="1920240" cy="932688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87752" y="2350008"/>
            <a:ext cx="868680" cy="146304"/>
          </a:xfrm>
          <a:prstGeom prst="rect">
            <a:avLst/>
          </a:prstGeom>
          <a:solidFill>
            <a:srgbClr val="D97706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587752" y="2350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STALLED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606040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RTC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(Element84)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06040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VV backscatter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· cloud-free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2286000"/>
            <a:ext cx="1920240" cy="932688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350008"/>
            <a:ext cx="868680" cy="146304"/>
          </a:xfrm>
          <a:prstGeom prst="rect">
            <a:avLst/>
          </a:prstGeom>
          <a:solidFill>
            <a:srgbClr val="475569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350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SUPPORTING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773168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WorldPop India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count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· auxiliary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48856" y="2286000"/>
            <a:ext cx="1920240" cy="932688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22008" y="2350008"/>
            <a:ext cx="868680" cy="146304"/>
          </a:xfrm>
          <a:prstGeom prst="rect">
            <a:avLst/>
          </a:prstGeom>
          <a:solidFill>
            <a:srgbClr val="475569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922008" y="235000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◑ SUPPORTING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40296" y="25237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Overpass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Ohsome API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40296" y="290779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tower density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&amp; 2024 snapshots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57200" y="33375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3694176"/>
            <a:ext cx="272491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37947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village_all_stats.csv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" y="41422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467K rows · NTL 2019–2024 + per-village signals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364992" y="3694176"/>
            <a:ext cx="272491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3502152" y="37947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village_scored.csv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02152" y="41422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 India villages · composite score + rank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72784" y="3694176"/>
            <a:ext cx="272491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409944" y="379476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top_100_villages.csv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map.html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9944" y="4142232"/>
            <a:ext cx="24505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shortlist · public S3 bucket (ap-south-1)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Scoring Model — 3-Stage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272491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2724912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429768" y="10972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115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45059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" y="171907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67335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BFAST-style piecewise regression on 6-year NTL series → breakpoint year, pre/post slope, acceleration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" y="26151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2569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lag: mean composite score of 10 nearest geographic neighbours (cluster reinforcement)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3511296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3465576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agreement: std of rank percentiles — penalises contradictory signals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63240" y="2651760"/>
            <a:ext cx="13716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3227832" y="960120"/>
            <a:ext cx="272491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960120"/>
            <a:ext cx="2724912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1097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4760" y="1115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Labelling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364992" y="1572768"/>
            <a:ext cx="245059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392424" y="17190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3575304" y="167335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1  if village is top-10% on ≥ 2 primary signals simultaneously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92424" y="261518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3575304" y="2569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~28K positive labels from 255K villages (~11% prevalence)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92424" y="351129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3575304" y="3465576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Labels derived from same features as final composite — AUC measures self-consistency, not external ground truth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71032" y="2651760"/>
            <a:ext cx="13716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Shape 27"/>
          <p:cNvSpPr/>
          <p:nvPr/>
        </p:nvSpPr>
        <p:spPr>
          <a:xfrm>
            <a:off x="6135624" y="960120"/>
            <a:ext cx="2724912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960120"/>
            <a:ext cx="2724912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6245352" y="1097280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45352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02552" y="111556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GradientBoostingClassifier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72784" y="1572768"/>
            <a:ext cx="245059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0216" y="1719072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6483096" y="167335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 · max_depth=4 · learning_rate=0.05 · subsample=0.8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0216" y="2615184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483096" y="2569464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14 signal rank percentiles + BFAST features + spatial lag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0216" y="3511296"/>
            <a:ext cx="128016" cy="12801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83096" y="3465576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ml_growth_prob (0–100) · AUC = 1.000 (in-sample, self-supervised) — GBM memorises its own self-supervised labels; this is the mathematically expected result, not a sign of external validity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280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saved to ml_model.pkl · SHAP TreeExplainer applied post-hoc for per-village signal attribution · K-means (k=6 by silhouette) clusters all scored villages into 6 growth archetypes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— Actual Weights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321040" cy="502920"/>
          </a:xfrm>
          <a:prstGeom prst="rect">
            <a:avLst/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9692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Sentinel-2 NDBI and Sentinel-1 SAR signals stalled during this pipeline run (monsoon STAC gaps).  Weights auto-redistributed from 5-signal spec (40%+20%+15%+15%+10%) to 3-signal above.  Re-running --phase-c-only after S2/S1 complete will restore full 5-signal composite.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98448" y="16276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Growth Probability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98448" y="1975104"/>
            <a:ext cx="5029200" cy="237744"/>
          </a:xfrm>
          <a:prstGeom prst="rect">
            <a:avLst/>
          </a:prstGeom>
          <a:solidFill>
            <a:srgbClr val="DDE6EE"/>
          </a:solidFill>
          <a:ln/>
        </p:spPr>
      </p:sp>
      <p:sp>
        <p:nvSpPr>
          <p:cNvPr id="8" name="Shape 6"/>
          <p:cNvSpPr/>
          <p:nvPr/>
        </p:nvSpPr>
        <p:spPr>
          <a:xfrm>
            <a:off x="1298448" y="1975104"/>
            <a:ext cx="4846320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6733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output (Stage 3)  ·  dominant signal  ·  captures multi-signal interaction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42032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98448" y="25420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Growth (log-scaled)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98448" y="2889504"/>
            <a:ext cx="5029200" cy="237744"/>
          </a:xfrm>
          <a:prstGeom prst="rect">
            <a:avLst/>
          </a:prstGeom>
          <a:solidFill>
            <a:srgbClr val="DDE6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448" y="2889504"/>
            <a:ext cx="2468880" cy="23774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5877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log(1 + ntl_growth_pct) 2019→2024  ·  log dampens extreme % from low baselines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713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98448" y="3456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GHSL Built-up Change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298448" y="3803904"/>
            <a:ext cx="5029200" cy="237744"/>
          </a:xfrm>
          <a:prstGeom prst="rect">
            <a:avLst/>
          </a:prstGeom>
          <a:solidFill>
            <a:srgbClr val="DDE6EE"/>
          </a:solidFill>
          <a:ln/>
        </p:spPr>
      </p:sp>
      <p:sp>
        <p:nvSpPr>
          <p:cNvPr id="18" name="Shape 16"/>
          <p:cNvSpPr/>
          <p:nvPr/>
        </p:nvSpPr>
        <p:spPr>
          <a:xfrm>
            <a:off x="1298448" y="3803904"/>
            <a:ext cx="1828800" cy="23774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502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JRC 2015→2020 built-up surface fraction  ·  cloud-independent, validated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4626864"/>
            <a:ext cx="8412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Pre-filters: NTL 2019 ≥ 0.1 nW/cm²/sr + India polygon filter + Δ NTL ≥ 1.0 nW/cm²/sr absolute minimum  ·  Normalisation: min-max (2nd/99th pct clip) → 0–100  ·  Score spread: top-100 range 73.85–70.04 (3.81 pts); rank-50 = 71.65. Spread was &lt; 0.01 pt before minmax fix. Restoring Sentinel-2/SAR will widen it further. Treat top-100 as a statistical shortlist.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Top 100 Shortlist  (3-signal composite: NTL 27% · GHSL 20% · ML amplifier 53%)</a:t>
            </a:r>
            <a:endParaRPr lang="en-US" sz="2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32688"/>
          <a:ext cx="4983480" cy="3931920"/>
        </p:xfrm>
        <a:graphic>
          <a:graphicData uri="http://schemas.openxmlformats.org/drawingml/2006/table">
            <a:tbl>
              <a:tblPr/>
              <a:tblGrid>
                <a:gridCol w="347472"/>
                <a:gridCol w="1481328"/>
                <a:gridCol w="1828800"/>
                <a:gridCol w="1051560"/>
              </a:tblGrid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/ Dist.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NTL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Siswa Bazar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Maharajganj,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+628%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Siswa Bazar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Maharajganj,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Himmatpur Talla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Nainital, Uttarakhand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Domariyaganj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Siddharth Nagar,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Siswa Bazar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Maharajganj,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Domariyaganj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Siddharth Nagar,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Siswa Bazar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Maharajganj,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+682%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nr. Siswa Bazar 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Maharajganj, 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Naveguda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Adilabad, Telangana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+1,170%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Kallagam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Ariyalur, Tamil Nadu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623560" y="896112"/>
          <a:ext cx="3246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4892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† OSM hamlet/village with no name tag — Nominatim reverse-geocoded to nearest named place (Siswa Bazar or Domariyaganj). 30 of 100 are unnamed OSM nodes.  Score spread: 73.85–70.04 (3.81 pts). Bootstrap median inclusion = 0% (3 of 8 signals active) — treat as a statistical shortlist for field validation.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Himmatpur Talla, Uttarakhand  (Rank #3 · strongest multi-signal confirmation in top 10)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283464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86968"/>
            <a:ext cx="28346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978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Profile  (Rank #3)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3504" y="13350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33502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Nainital, Uttarakhand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3504" y="16367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163677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29.2181°N, 79.4815°E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" y="193852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to city: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93852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64.7 km  (Himalayan foothills)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3504" y="224028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240280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Breakout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" y="254203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BFAST year: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00200" y="2542032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(structural change)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" y="284378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Pre-slope: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2843784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 nW/cm²/sr/yr (flat)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" y="314553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Post-slope: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314553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3.97 nW/cm²/sr/yr  (17× acceleration)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" y="344728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 growth: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344728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+0.51 towers/km²  (only top-10 with confirmed connectivity expansion)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822192"/>
            <a:ext cx="27432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" y="38770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 Drivers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" y="41330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Built-up Change (GHSL)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94560" y="4197096"/>
            <a:ext cx="868680" cy="109728"/>
          </a:xfrm>
          <a:prstGeom prst="rect">
            <a:avLst/>
          </a:prstGeom>
          <a:solidFill>
            <a:srgbClr val="DDE6EE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4560" y="4197096"/>
            <a:ext cx="712318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03504" y="438912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Log Growth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94560" y="4453128"/>
            <a:ext cx="868680" cy="109728"/>
          </a:xfrm>
          <a:prstGeom prst="rect">
            <a:avLst/>
          </a:prstGeom>
          <a:solidFill>
            <a:srgbClr val="DDE6EE"/>
          </a:solidFill>
          <a:ln/>
        </p:spPr>
      </p:sp>
      <p:sp>
        <p:nvSpPr>
          <p:cNvPr id="30" name="Shape 28"/>
          <p:cNvSpPr/>
          <p:nvPr/>
        </p:nvSpPr>
        <p:spPr>
          <a:xfrm>
            <a:off x="2194560" y="4453128"/>
            <a:ext cx="67757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" y="464515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NTL Trend Slope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194560" y="4709160"/>
            <a:ext cx="868680" cy="109728"/>
          </a:xfrm>
          <a:prstGeom prst="rect">
            <a:avLst/>
          </a:prstGeom>
          <a:solidFill>
            <a:srgbClr val="DDE6EE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4560" y="4709160"/>
            <a:ext cx="616763" cy="109728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34" name="Chart 0" descr=""/>
          <p:cNvGraphicFramePr/>
          <p:nvPr/>
        </p:nvGraphicFramePr>
        <p:xfrm>
          <a:off x="3493008" y="859536"/>
          <a:ext cx="539496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903720" y="2560320"/>
            <a:ext cx="1828800" cy="749808"/>
          </a:xfrm>
          <a:prstGeom prst="rect">
            <a:avLst/>
          </a:prstGeom>
          <a:solidFill>
            <a:srgbClr val="FEF9C3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67728" y="2596896"/>
            <a:ext cx="1700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BFAST breakpoint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— pre-slope 0.23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post-slope 3.97 nW/yr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590288"/>
            <a:ext cx="841248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3504" y="463600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 #3?  Himmatpur Talla is the only top-10 village with confirmed tower infrastructure expansion (+0.51 towers/km²), ruling out pure electrification as the growth driver. NTL grew +618% (3.1 → 22.4 nW/cm²/sr). BFAST structural break in 2022; post-break acceleration 17× pre-break rate. Selected as case study because it is named, geographically isolated (64.7 km from nearest city), and has 4/4 available signals confirming → confidence_score = 100, inter_signal_agreement = 60.0.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724912" cy="2331720"/>
          </a:xfrm>
          <a:prstGeom prst="rect">
            <a:avLst/>
          </a:prstGeom>
          <a:solidFill>
            <a:srgbClr val="065A82">
              <a:alpha val="4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Geographically Concentrated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span 8+ states. Karnataka (33) and UP (25) dominate — consistent with Bengaluru peri-urban expansion and UP highway corridor districts. Karnataka is ~4× over-represented vs. its India village share; see README for confound analysis.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207008"/>
            <a:ext cx="2724912" cy="2331720"/>
          </a:xfrm>
          <a:prstGeom prst="rect">
            <a:avLst/>
          </a:prstGeom>
          <a:solidFill>
            <a:srgbClr val="065A82">
              <a:alpha val="4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Signal Confirmed  ·  Ranking is a Shortlist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02152" y="1828800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Moran's I = 0.505 (p &lt; 0.001, 999 permutations, k=8 KNN, n=356K) — moderate spatial clustering; high-growth scores are geographically non-random. (Prior run reported I = 0.0631 due to a row-standardisation formula bug; corrected in 07_validate.py.) Bootstrap (n=200 Dirichlet draws over raw signals): 14 villages ≥80% stable; 71 below 50% — treat top-100 as shortlist for field validation.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72784" y="1207008"/>
            <a:ext cx="2724912" cy="2331720"/>
          </a:xfrm>
          <a:prstGeom prst="rect">
            <a:avLst/>
          </a:prstGeom>
          <a:solidFill>
            <a:srgbClr val="065A82">
              <a:alpha val="45000"/>
            </a:srgbClr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9944" y="1325880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Scalable &amp; Repeatable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9944" y="1828800"/>
            <a:ext cx="2450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 scored villages on a single EC2 t3.xlarge in &lt; 12 hrs. Annual automated re-run via EventBridge. Completing Sentinel-2/SAR will raise active signals from 3 to 5, widen score spread from 3.8 to &gt;5 pts, and stabilise bootstrap rankings.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Do Next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Sentinel-2/SAR stalled signals — restores full 5-signal composite &amp; resolves circular label issue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self-supervised labels with SHRUG/SECC consumption quintiles as external ground truth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PMGSY road correlation — validation framework built in 07_validate.py; requires EC2 re-run with PMGSY shapefiles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 fixed-effects model across all 6 years — replaces endpoint comparison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3611880"/>
            <a:ext cx="3749040" cy="1417320"/>
          </a:xfrm>
          <a:prstGeom prst="rect">
            <a:avLst/>
          </a:prstGeom>
          <a:solidFill>
            <a:srgbClr val="04142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7124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&amp; Results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40233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ishunteam-png.github.io/kritter-village-growth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257800" y="42519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 table · 6 Plotly charts · interactive map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57800" y="448056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S3: top_100_villages.csv · map.html · archetypes · forecast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Village Economic Growth Intelligence</dc:title>
  <dc:subject>PptxGenJS Presentation</dc:subject>
  <dc:creator>Candidate</dc:creator>
  <cp:lastModifiedBy>Candidate</cp:lastModifiedBy>
  <cp:revision>1</cp:revision>
  <dcterms:created xsi:type="dcterms:W3CDTF">2026-05-25T17:14:56Z</dcterms:created>
  <dcterms:modified xsi:type="dcterms:W3CDTF">2026-05-25T17:14:56Z</dcterms:modified>
</cp:coreProperties>
</file>